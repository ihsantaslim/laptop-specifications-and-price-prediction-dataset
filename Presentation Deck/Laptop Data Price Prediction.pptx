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75" r:id="rId3"/>
    <p:sldId id="276" r:id="rId4"/>
    <p:sldId id="291" r:id="rId5"/>
    <p:sldId id="286" r:id="rId6"/>
    <p:sldId id="278" r:id="rId7"/>
    <p:sldId id="292" r:id="rId8"/>
    <p:sldId id="293" r:id="rId9"/>
    <p:sldId id="279" r:id="rId10"/>
    <p:sldId id="294" r:id="rId11"/>
    <p:sldId id="298" r:id="rId12"/>
    <p:sldId id="295" r:id="rId13"/>
    <p:sldId id="296" r:id="rId14"/>
    <p:sldId id="297" r:id="rId15"/>
    <p:sldId id="274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000000"/>
    <a:srgbClr val="4878D0"/>
    <a:srgbClr val="DCE0FC"/>
    <a:srgbClr val="132BDC"/>
    <a:srgbClr val="FDF200"/>
    <a:srgbClr val="80FBE5"/>
    <a:srgbClr val="3CF3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00"/>
    <p:restoredTop sz="94626"/>
  </p:normalViewPr>
  <p:slideViewPr>
    <p:cSldViewPr snapToGrid="0">
      <p:cViewPr varScale="1">
        <p:scale>
          <a:sx n="78" d="100"/>
          <a:sy n="78" d="100"/>
        </p:scale>
        <p:origin x="110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37" d="100"/>
          <a:sy n="137" d="100"/>
        </p:scale>
        <p:origin x="674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8/3/2026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61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358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7D3E5B-4BED-B24C-9674-6B6454D0456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28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1EBC0340-3AAE-A39F-0BAF-0E7430611152}"/>
              </a:ext>
            </a:extLst>
          </p:cNvPr>
          <p:cNvSpPr/>
          <p:nvPr userDrawn="1"/>
        </p:nvSpPr>
        <p:spPr>
          <a:xfrm>
            <a:off x="3127386" y="1976768"/>
            <a:ext cx="6929120" cy="4877511"/>
          </a:xfrm>
          <a:custGeom>
            <a:avLst/>
            <a:gdLst>
              <a:gd name="connsiteX0" fmla="*/ 3464560 w 6929120"/>
              <a:gd name="connsiteY0" fmla="*/ 0 h 4877511"/>
              <a:gd name="connsiteX1" fmla="*/ 6929120 w 6929120"/>
              <a:gd name="connsiteY1" fmla="*/ 3464560 h 4877511"/>
              <a:gd name="connsiteX2" fmla="*/ 6656858 w 6929120"/>
              <a:gd name="connsiteY2" fmla="*/ 4813124 h 4877511"/>
              <a:gd name="connsiteX3" fmla="*/ 6625841 w 6929120"/>
              <a:gd name="connsiteY3" fmla="*/ 4877511 h 4877511"/>
              <a:gd name="connsiteX4" fmla="*/ 303280 w 6929120"/>
              <a:gd name="connsiteY4" fmla="*/ 4877511 h 4877511"/>
              <a:gd name="connsiteX5" fmla="*/ 272263 w 6929120"/>
              <a:gd name="connsiteY5" fmla="*/ 4813124 h 4877511"/>
              <a:gd name="connsiteX6" fmla="*/ 0 w 6929120"/>
              <a:gd name="connsiteY6" fmla="*/ 3464560 h 4877511"/>
              <a:gd name="connsiteX7" fmla="*/ 3464560 w 6929120"/>
              <a:gd name="connsiteY7" fmla="*/ 0 h 4877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29120" h="4877511">
                <a:moveTo>
                  <a:pt x="3464560" y="0"/>
                </a:moveTo>
                <a:cubicBezTo>
                  <a:pt x="5377984" y="0"/>
                  <a:pt x="6929120" y="1551136"/>
                  <a:pt x="6929120" y="3464560"/>
                </a:cubicBezTo>
                <a:cubicBezTo>
                  <a:pt x="6929120" y="3942916"/>
                  <a:pt x="6832174" y="4398629"/>
                  <a:pt x="6656858" y="4813124"/>
                </a:cubicBezTo>
                <a:lnTo>
                  <a:pt x="6625841" y="4877511"/>
                </a:lnTo>
                <a:lnTo>
                  <a:pt x="303280" y="4877511"/>
                </a:lnTo>
                <a:lnTo>
                  <a:pt x="272263" y="4813124"/>
                </a:lnTo>
                <a:cubicBezTo>
                  <a:pt x="96946" y="4398629"/>
                  <a:pt x="0" y="3942916"/>
                  <a:pt x="0" y="3464560"/>
                </a:cubicBezTo>
                <a:cubicBezTo>
                  <a:pt x="0" y="1551136"/>
                  <a:pt x="1551136" y="0"/>
                  <a:pt x="34645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" name="Picture 9" descr="Gap between two buildings against the blue sky">
            <a:extLst>
              <a:ext uri="{FF2B5EF4-FFF2-40B4-BE49-F238E27FC236}">
                <a16:creationId xmlns:a16="http://schemas.microsoft.com/office/drawing/2014/main" id="{C40F96A3-9DAF-4D22-64AD-CEC023D28D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0546"/>
                    </a14:imgEffect>
                    <a14:imgEffect>
                      <a14:saturation sat="0"/>
                    </a14:imgEffect>
                    <a14:imgEffect>
                      <a14:brightnessContrast bright="-34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550" b="8386"/>
          <a:stretch/>
        </p:blipFill>
        <p:spPr>
          <a:xfrm>
            <a:off x="760411" y="0"/>
            <a:ext cx="11431589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768" y="633753"/>
            <a:ext cx="7414940" cy="57832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768" y="1313284"/>
            <a:ext cx="6226593" cy="3427502"/>
          </a:xfrm>
        </p:spPr>
        <p:txBody>
          <a:bodyPr lIns="0" tIns="0" rIns="0" bIns="0" anchor="t">
            <a:noAutofit/>
          </a:bodyPr>
          <a:lstStyle>
            <a:lvl1pPr algn="l">
              <a:defRPr sz="45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2" y="654637"/>
            <a:ext cx="4834517" cy="2774361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46650F3-FE62-E3A1-C1F7-6A7E767D00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1" y="3429000"/>
            <a:ext cx="4834517" cy="27743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DE39F4-E652-D021-FAC3-9A057954548D}"/>
              </a:ext>
            </a:extLst>
          </p:cNvPr>
          <p:cNvSpPr/>
          <p:nvPr userDrawn="1"/>
        </p:nvSpPr>
        <p:spPr>
          <a:xfrm>
            <a:off x="0" y="0"/>
            <a:ext cx="453347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1"/>
            <a:ext cx="10506416" cy="1128519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763DD79-6EE3-B8D8-0CBF-2151E3515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6438" y="2090460"/>
            <a:ext cx="4729163" cy="3271838"/>
          </a:xfrm>
          <a:custGeom>
            <a:avLst/>
            <a:gdLst>
              <a:gd name="connsiteX0" fmla="*/ 0 w 4729163"/>
              <a:gd name="connsiteY0" fmla="*/ 0 h 3271838"/>
              <a:gd name="connsiteX1" fmla="*/ 4729163 w 4729163"/>
              <a:gd name="connsiteY1" fmla="*/ 0 h 3271838"/>
              <a:gd name="connsiteX2" fmla="*/ 4729163 w 4729163"/>
              <a:gd name="connsiteY2" fmla="*/ 1519113 h 3271838"/>
              <a:gd name="connsiteX3" fmla="*/ 4674888 w 4729163"/>
              <a:gd name="connsiteY3" fmla="*/ 1524585 h 3271838"/>
              <a:gd name="connsiteX4" fmla="*/ 4145679 w 4729163"/>
              <a:gd name="connsiteY4" fmla="*/ 2173901 h 3271838"/>
              <a:gd name="connsiteX5" fmla="*/ 4674888 w 4729163"/>
              <a:gd name="connsiteY5" fmla="*/ 2823218 h 3271838"/>
              <a:gd name="connsiteX6" fmla="*/ 4729163 w 4729163"/>
              <a:gd name="connsiteY6" fmla="*/ 2828689 h 3271838"/>
              <a:gd name="connsiteX7" fmla="*/ 4729163 w 4729163"/>
              <a:gd name="connsiteY7" fmla="*/ 3271838 h 3271838"/>
              <a:gd name="connsiteX8" fmla="*/ 0 w 4729163"/>
              <a:gd name="connsiteY8" fmla="*/ 3271838 h 327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9163" h="3271838">
                <a:moveTo>
                  <a:pt x="0" y="0"/>
                </a:moveTo>
                <a:lnTo>
                  <a:pt x="4729163" y="0"/>
                </a:lnTo>
                <a:lnTo>
                  <a:pt x="4729163" y="1519113"/>
                </a:lnTo>
                <a:lnTo>
                  <a:pt x="4674888" y="1524585"/>
                </a:lnTo>
                <a:cubicBezTo>
                  <a:pt x="4372869" y="1586387"/>
                  <a:pt x="4145679" y="1853613"/>
                  <a:pt x="4145679" y="2173901"/>
                </a:cubicBezTo>
                <a:cubicBezTo>
                  <a:pt x="4145679" y="2494190"/>
                  <a:pt x="4372869" y="2761416"/>
                  <a:pt x="4674888" y="2823218"/>
                </a:cubicBezTo>
                <a:lnTo>
                  <a:pt x="4729163" y="2828689"/>
                </a:lnTo>
                <a:lnTo>
                  <a:pt x="4729163" y="3271838"/>
                </a:lnTo>
                <a:lnTo>
                  <a:pt x="0" y="3271838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8650" y="2087562"/>
            <a:ext cx="4375150" cy="389106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3A22C8-6F2C-1CDE-8309-91BEE025D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92117" y="3601579"/>
            <a:ext cx="1325563" cy="1325563"/>
          </a:xfrm>
          <a:prstGeom prst="ellipse">
            <a:avLst/>
          </a:prstGeom>
          <a:solidFill>
            <a:schemeClr val="accent1">
              <a:alpha val="8921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D6503F-0A61-068C-55A7-DCFF406FB3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B612C-940F-4C41-D28D-9328F152416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A picture containing accessory&#10;&#10;Description automatically generated">
            <a:extLst>
              <a:ext uri="{FF2B5EF4-FFF2-40B4-BE49-F238E27FC236}">
                <a16:creationId xmlns:a16="http://schemas.microsoft.com/office/drawing/2014/main" id="{C36ADBF6-BB82-4096-70C0-7517A47A41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21975" b="1533"/>
          <a:stretch>
            <a:fillRect/>
          </a:stretch>
        </p:blipFill>
        <p:spPr>
          <a:xfrm rot="8325578">
            <a:off x="-1775001" y="-1607470"/>
            <a:ext cx="10567962" cy="8905077"/>
          </a:xfrm>
          <a:custGeom>
            <a:avLst/>
            <a:gdLst>
              <a:gd name="connsiteX0" fmla="*/ 6047036 w 10567962"/>
              <a:gd name="connsiteY0" fmla="*/ 8905077 h 8905077"/>
              <a:gd name="connsiteX1" fmla="*/ 0 w 10567962"/>
              <a:gd name="connsiteY1" fmla="*/ 3603767 h 8905077"/>
              <a:gd name="connsiteX2" fmla="*/ 0 w 10567962"/>
              <a:gd name="connsiteY2" fmla="*/ 0 h 8905077"/>
              <a:gd name="connsiteX3" fmla="*/ 6292508 w 10567962"/>
              <a:gd name="connsiteY3" fmla="*/ 0 h 8905077"/>
              <a:gd name="connsiteX4" fmla="*/ 10567962 w 10567962"/>
              <a:gd name="connsiteY4" fmla="*/ 3748201 h 8905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67962" h="8905077">
                <a:moveTo>
                  <a:pt x="6047036" y="8905077"/>
                </a:moveTo>
                <a:lnTo>
                  <a:pt x="0" y="3603767"/>
                </a:lnTo>
                <a:lnTo>
                  <a:pt x="0" y="0"/>
                </a:lnTo>
                <a:lnTo>
                  <a:pt x="6292508" y="0"/>
                </a:lnTo>
                <a:lnTo>
                  <a:pt x="10567962" y="3748201"/>
                </a:lnTo>
                <a:close/>
              </a:path>
            </a:pathLst>
          </a:cu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A127B08-9EC5-3FDF-B7CC-DF3587255E18}"/>
              </a:ext>
            </a:extLst>
          </p:cNvPr>
          <p:cNvSpPr/>
          <p:nvPr userDrawn="1"/>
        </p:nvSpPr>
        <p:spPr>
          <a:xfrm>
            <a:off x="925160" y="4144752"/>
            <a:ext cx="4788322" cy="2713249"/>
          </a:xfrm>
          <a:custGeom>
            <a:avLst/>
            <a:gdLst>
              <a:gd name="connsiteX0" fmla="*/ 2394161 w 4788322"/>
              <a:gd name="connsiteY0" fmla="*/ 0 h 2713249"/>
              <a:gd name="connsiteX1" fmla="*/ 4788322 w 4788322"/>
              <a:gd name="connsiteY1" fmla="*/ 2394161 h 2713249"/>
              <a:gd name="connsiteX2" fmla="*/ 4775962 w 4788322"/>
              <a:gd name="connsiteY2" fmla="*/ 2638950 h 2713249"/>
              <a:gd name="connsiteX3" fmla="*/ 4764622 w 4788322"/>
              <a:gd name="connsiteY3" fmla="*/ 2713249 h 2713249"/>
              <a:gd name="connsiteX4" fmla="*/ 23700 w 4788322"/>
              <a:gd name="connsiteY4" fmla="*/ 2713249 h 2713249"/>
              <a:gd name="connsiteX5" fmla="*/ 12361 w 4788322"/>
              <a:gd name="connsiteY5" fmla="*/ 2638950 h 2713249"/>
              <a:gd name="connsiteX6" fmla="*/ 0 w 4788322"/>
              <a:gd name="connsiteY6" fmla="*/ 2394161 h 2713249"/>
              <a:gd name="connsiteX7" fmla="*/ 2394161 w 4788322"/>
              <a:gd name="connsiteY7" fmla="*/ 0 h 2713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88322" h="2713249">
                <a:moveTo>
                  <a:pt x="2394161" y="0"/>
                </a:moveTo>
                <a:cubicBezTo>
                  <a:pt x="3716420" y="0"/>
                  <a:pt x="4788322" y="1071902"/>
                  <a:pt x="4788322" y="2394161"/>
                </a:cubicBezTo>
                <a:cubicBezTo>
                  <a:pt x="4788322" y="2476803"/>
                  <a:pt x="4784135" y="2558466"/>
                  <a:pt x="4775962" y="2638950"/>
                </a:cubicBezTo>
                <a:lnTo>
                  <a:pt x="4764622" y="2713249"/>
                </a:lnTo>
                <a:lnTo>
                  <a:pt x="23700" y="2713249"/>
                </a:lnTo>
                <a:lnTo>
                  <a:pt x="12361" y="2638950"/>
                </a:lnTo>
                <a:cubicBezTo>
                  <a:pt x="4187" y="2558466"/>
                  <a:pt x="0" y="2476803"/>
                  <a:pt x="0" y="2394161"/>
                </a:cubicBezTo>
                <a:cubicBezTo>
                  <a:pt x="0" y="1071902"/>
                  <a:pt x="1071902" y="0"/>
                  <a:pt x="2394161" y="0"/>
                </a:cubicBezTo>
                <a:close/>
              </a:path>
            </a:pathLst>
          </a:custGeom>
          <a:solidFill>
            <a:schemeClr val="accent1">
              <a:alpha val="8985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651D38D-DD64-4914-C669-30AA47A5A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13445" y="2043946"/>
            <a:ext cx="6034216" cy="1439604"/>
          </a:xfrm>
        </p:spPr>
        <p:txBody>
          <a:bodyPr lIns="0" tIns="0" rIns="0" bIns="0" anchor="b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A8DA7F4-A65E-7F16-9966-719CC1CE28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3445" y="3469262"/>
            <a:ext cx="6034216" cy="108564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 cap="all" spc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1B6B04-886C-2862-3BD4-97071FCAD7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0F1657-AAC1-699F-C320-E5260E3806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06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250F21D-F2DD-7321-0EAB-DA9F671A2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168" y="1828800"/>
            <a:ext cx="10126362" cy="435133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EECBEC-47C0-1CBF-96E7-318D538984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5D78F7-5CBD-4D51-970A-4C050848D6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6879" y="884902"/>
            <a:ext cx="4567228" cy="1877976"/>
          </a:xfrm>
        </p:spPr>
        <p:txBody>
          <a:bodyPr lIns="0" tIns="0" rIns="0" bIns="0">
            <a:noAutofit/>
          </a:bodyPr>
          <a:lstStyle>
            <a:lvl1pPr>
              <a:defRPr sz="3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2125" y="409576"/>
            <a:ext cx="5789913" cy="6067424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reeform 5" descr="Man looking up at skyscrapers">
            <a:extLst>
              <a:ext uri="{FF2B5EF4-FFF2-40B4-BE49-F238E27FC236}">
                <a16:creationId xmlns:a16="http://schemas.microsoft.com/office/drawing/2014/main" id="{7BCB4311-6C5C-4FCF-5824-E1C8254AC360}"/>
              </a:ext>
            </a:extLst>
          </p:cNvPr>
          <p:cNvSpPr/>
          <p:nvPr userDrawn="1"/>
        </p:nvSpPr>
        <p:spPr>
          <a:xfrm rot="2329651">
            <a:off x="-532604" y="2895950"/>
            <a:ext cx="5658498" cy="5088743"/>
          </a:xfrm>
          <a:custGeom>
            <a:avLst/>
            <a:gdLst>
              <a:gd name="connsiteX0" fmla="*/ 1041364 w 5658498"/>
              <a:gd name="connsiteY0" fmla="*/ 660618 h 5088743"/>
              <a:gd name="connsiteX1" fmla="*/ 2881574 w 5658498"/>
              <a:gd name="connsiteY1" fmla="*/ 0 h 5088743"/>
              <a:gd name="connsiteX2" fmla="*/ 5644500 w 5658498"/>
              <a:gd name="connsiteY2" fmla="*/ 2032703 h 5088743"/>
              <a:gd name="connsiteX3" fmla="*/ 5658498 w 5658498"/>
              <a:gd name="connsiteY3" fmla="*/ 2087143 h 5088743"/>
              <a:gd name="connsiteX4" fmla="*/ 1928931 w 5658498"/>
              <a:gd name="connsiteY4" fmla="*/ 5088743 h 5088743"/>
              <a:gd name="connsiteX5" fmla="*/ 0 w 5658498"/>
              <a:gd name="connsiteY5" fmla="*/ 2691993 h 5088743"/>
              <a:gd name="connsiteX6" fmla="*/ 7450 w 5658498"/>
              <a:gd name="connsiteY6" fmla="*/ 2560795 h 5088743"/>
              <a:gd name="connsiteX7" fmla="*/ 1041364 w 5658498"/>
              <a:gd name="connsiteY7" fmla="*/ 660618 h 5088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58498" h="5088743">
                <a:moveTo>
                  <a:pt x="1041364" y="660618"/>
                </a:moveTo>
                <a:cubicBezTo>
                  <a:pt x="1541443" y="247916"/>
                  <a:pt x="2182557" y="0"/>
                  <a:pt x="2881574" y="0"/>
                </a:cubicBezTo>
                <a:cubicBezTo>
                  <a:pt x="4179749" y="0"/>
                  <a:pt x="5278215" y="855058"/>
                  <a:pt x="5644500" y="2032703"/>
                </a:cubicBezTo>
                <a:lnTo>
                  <a:pt x="5658498" y="2087143"/>
                </a:lnTo>
                <a:lnTo>
                  <a:pt x="1928931" y="5088743"/>
                </a:lnTo>
                <a:lnTo>
                  <a:pt x="0" y="2691993"/>
                </a:lnTo>
                <a:lnTo>
                  <a:pt x="7450" y="2560795"/>
                </a:lnTo>
                <a:cubicBezTo>
                  <a:pt x="94683" y="1797754"/>
                  <a:pt x="478776" y="1124908"/>
                  <a:pt x="1041364" y="660618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  <a14:imgEffect>
                        <a14:brightnessContrast bright="8000" contrast="-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B5704EA-7A65-5CC2-D428-F28396B06208}"/>
              </a:ext>
            </a:extLst>
          </p:cNvPr>
          <p:cNvSpPr/>
          <p:nvPr userDrawn="1"/>
        </p:nvSpPr>
        <p:spPr>
          <a:xfrm>
            <a:off x="356461" y="2238899"/>
            <a:ext cx="1411557" cy="1411557"/>
          </a:xfrm>
          <a:prstGeom prst="ellipse">
            <a:avLst/>
          </a:prstGeom>
          <a:solidFill>
            <a:schemeClr val="accent1">
              <a:alpha val="760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880" y="1781357"/>
            <a:ext cx="5157787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880" y="2605269"/>
            <a:ext cx="5157787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292" y="1781357"/>
            <a:ext cx="5183188" cy="823912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2292" y="2605269"/>
            <a:ext cx="5183188" cy="3684588"/>
          </a:xfrm>
        </p:spPr>
        <p:txBody>
          <a:bodyPr lIns="0" tIns="0" rIns="0" bIns="0"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EB52FD-12DF-7F90-E06C-0C83CEB26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5B760E-02DF-5B11-D744-D98DE8A01E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BFEC7-DD3B-F9AE-2192-83960534D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>
            <a:extLst>
              <a:ext uri="{FF2B5EF4-FFF2-40B4-BE49-F238E27FC236}">
                <a16:creationId xmlns:a16="http://schemas.microsoft.com/office/drawing/2014/main" id="{AB86DE8E-78DF-CA66-5AED-C7FF0CCF0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383" y="4010866"/>
            <a:ext cx="5056094" cy="2847135"/>
          </a:xfrm>
          <a:custGeom>
            <a:avLst/>
            <a:gdLst>
              <a:gd name="connsiteX0" fmla="*/ 2528047 w 5056094"/>
              <a:gd name="connsiteY0" fmla="*/ 0 h 2847135"/>
              <a:gd name="connsiteX1" fmla="*/ 5056094 w 5056094"/>
              <a:gd name="connsiteY1" fmla="*/ 2528047 h 2847135"/>
              <a:gd name="connsiteX2" fmla="*/ 5043042 w 5056094"/>
              <a:gd name="connsiteY2" fmla="*/ 2786525 h 2847135"/>
              <a:gd name="connsiteX3" fmla="*/ 5033792 w 5056094"/>
              <a:gd name="connsiteY3" fmla="*/ 2847135 h 2847135"/>
              <a:gd name="connsiteX4" fmla="*/ 22302 w 5056094"/>
              <a:gd name="connsiteY4" fmla="*/ 2847135 h 2847135"/>
              <a:gd name="connsiteX5" fmla="*/ 13052 w 5056094"/>
              <a:gd name="connsiteY5" fmla="*/ 2786525 h 2847135"/>
              <a:gd name="connsiteX6" fmla="*/ 0 w 5056094"/>
              <a:gd name="connsiteY6" fmla="*/ 2528047 h 2847135"/>
              <a:gd name="connsiteX7" fmla="*/ 2528047 w 5056094"/>
              <a:gd name="connsiteY7" fmla="*/ 0 h 2847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56094" h="2847135">
                <a:moveTo>
                  <a:pt x="2528047" y="0"/>
                </a:moveTo>
                <a:cubicBezTo>
                  <a:pt x="3924249" y="0"/>
                  <a:pt x="5056094" y="1131845"/>
                  <a:pt x="5056094" y="2528047"/>
                </a:cubicBezTo>
                <a:cubicBezTo>
                  <a:pt x="5056094" y="2615310"/>
                  <a:pt x="5051673" y="2701540"/>
                  <a:pt x="5043042" y="2786525"/>
                </a:cubicBezTo>
                <a:lnTo>
                  <a:pt x="5033792" y="2847135"/>
                </a:lnTo>
                <a:lnTo>
                  <a:pt x="22302" y="2847135"/>
                </a:lnTo>
                <a:lnTo>
                  <a:pt x="13052" y="2786525"/>
                </a:lnTo>
                <a:cubicBezTo>
                  <a:pt x="4422" y="2701540"/>
                  <a:pt x="0" y="2615310"/>
                  <a:pt x="0" y="2528047"/>
                </a:cubicBezTo>
                <a:cubicBezTo>
                  <a:pt x="0" y="1131845"/>
                  <a:pt x="1131845" y="0"/>
                  <a:pt x="2528047" y="0"/>
                </a:cubicBezTo>
                <a:close/>
              </a:path>
            </a:pathLst>
          </a:custGeom>
          <a:solidFill>
            <a:schemeClr val="accent1">
              <a:alpha val="8969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 descr="Modern house with cubic design">
            <a:extLst>
              <a:ext uri="{FF2B5EF4-FFF2-40B4-BE49-F238E27FC236}">
                <a16:creationId xmlns:a16="http://schemas.microsoft.com/office/drawing/2014/main" id="{FE966628-FEAF-3BD3-2DC4-23A466ABB9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2000" contrast="-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23487"/>
          <a:stretch/>
        </p:blipFill>
        <p:spPr>
          <a:xfrm>
            <a:off x="2531165" y="2125402"/>
            <a:ext cx="9279835" cy="47325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8500" y="1155320"/>
            <a:ext cx="8244113" cy="970081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100000"/>
              </a:lnSpc>
              <a:defRPr sz="3000" b="0" i="0" spc="0" baseline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04A311B-BF0E-4ABD-250E-58093E12EC3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8500" y="2229358"/>
            <a:ext cx="7044643" cy="559184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800" b="1" spc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10569-B083-466A-F24B-8C44360B4E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B78C1-0CD8-FD34-E7BB-B8F6E296A4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227E488-456A-A645-EEF4-38AAED9C5E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0327" y="1747520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4825303-FCCD-E705-1213-BF7CF16DF7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0326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5524" y="5567730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A9E795C-FED0-FB6B-2D18-0BDABCA2C5B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48996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F18F814-0B06-5B49-EC7F-2FFDDB498FF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8996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8" name="Text Placeholder 28">
            <a:extLst>
              <a:ext uri="{FF2B5EF4-FFF2-40B4-BE49-F238E27FC236}">
                <a16:creationId xmlns:a16="http://schemas.microsoft.com/office/drawing/2014/main" id="{518B0AC6-8555-9EC9-31D5-2D41E9278A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31421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1026B989-CBAD-BCCA-CE61-AC5ABC3F875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39567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A6E4A81-98BC-4A0B-637E-A8A4EF704A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39567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71F3A8D-7485-35BA-4D51-752E669CD5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60967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C3EE756-2FF0-64E0-D905-235B8973F7D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55158" y="1758108"/>
            <a:ext cx="2226360" cy="294038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35068E76-B8E5-A95C-FAAC-7F43B2481D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755158" y="4542790"/>
            <a:ext cx="2226360" cy="1530417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118872" tIns="36576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5985B1DB-E488-ABA9-E8FB-18D2006DCE0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90513" y="5584541"/>
            <a:ext cx="1943837" cy="347662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C1105-93C5-0E50-1656-271A54E5D97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4F48D-1D23-34DB-1FB6-07EEB752692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8D869122-E2BC-ED44-681B-43F70BEF8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255CBD6C-C281-8722-27D4-3D2CC5788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0665" y="1650517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F1774C4E-7344-8232-3750-E424576E1D7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81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1CE5D490-4727-FFF1-4BFF-A3DED42ECA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85312" y="358765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53802057-01C6-8655-30FA-091AC26925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38242" y="1656748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9E47AF5-CB74-C3EB-76CA-1CA76678E2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36236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890DFA6A-3356-DE98-022D-0DA202FBFD7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34201" y="358977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4EB02CDB-488A-8142-CAF9-8E37FFF7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5819" y="166297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F3265D0-915B-E319-A154-B81C7A2C5B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83813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CC0A1957-087D-BAC8-2FD3-C7879A14D6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83090" y="3594007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C0FA0782-5A43-CA2A-3152-A02B9D5D74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33396" y="166920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D922E682-729B-97DE-1956-5B8FDDB7A7B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31390" y="3136392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2" name="Text Placeholder 28">
            <a:extLst>
              <a:ext uri="{FF2B5EF4-FFF2-40B4-BE49-F238E27FC236}">
                <a16:creationId xmlns:a16="http://schemas.microsoft.com/office/drawing/2014/main" id="{8A2E2333-661F-499A-4099-13003D5327D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31978" y="359189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C2B0E64-6036-C50A-4B09-3307E136D0D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665" y="4221285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1360129-7F80-B48D-D46B-A111F17E47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881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34A00EE2-7DE2-BF48-E0C1-81C2158B410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85312" y="6150401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90EE9725-A8CC-5A72-59F1-663EECC9FDF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38242" y="4218973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74C74F1-405C-C6EE-A607-2236B9B08E0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36236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F3B25311-1AE4-31EC-9514-AD4642A2B4F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34201" y="6151618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EA14E23B-F3B1-C7A2-B03A-1CEABC2E4CF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5819" y="4220129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3914135F-F251-D319-FE2A-787B519F907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83813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8" name="Text Placeholder 28">
            <a:extLst>
              <a:ext uri="{FF2B5EF4-FFF2-40B4-BE49-F238E27FC236}">
                <a16:creationId xmlns:a16="http://schemas.microsoft.com/office/drawing/2014/main" id="{A39619BE-B308-86FC-D02B-5B8AE1C8B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3090" y="6149184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D44FC776-875A-9EAD-435C-F5D0F3DF385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3396" y="4222440"/>
            <a:ext cx="2000530" cy="161216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B9DED069-060F-0176-B4A9-26120A147B7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731390" y="5687568"/>
            <a:ext cx="2002536" cy="740664"/>
          </a:xfrm>
          <a:custGeom>
            <a:avLst/>
            <a:gdLst>
              <a:gd name="connsiteX0" fmla="*/ 0 w 2226360"/>
              <a:gd name="connsiteY0" fmla="*/ 0 h 1530417"/>
              <a:gd name="connsiteX1" fmla="*/ 2226360 w 2226360"/>
              <a:gd name="connsiteY1" fmla="*/ 0 h 1530417"/>
              <a:gd name="connsiteX2" fmla="*/ 2226360 w 2226360"/>
              <a:gd name="connsiteY2" fmla="*/ 1530417 h 1530417"/>
              <a:gd name="connsiteX3" fmla="*/ 0 w 2226360"/>
              <a:gd name="connsiteY3" fmla="*/ 1530417 h 153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6360" h="1530417">
                <a:moveTo>
                  <a:pt x="0" y="0"/>
                </a:moveTo>
                <a:lnTo>
                  <a:pt x="2226360" y="0"/>
                </a:lnTo>
                <a:lnTo>
                  <a:pt x="2226360" y="1530417"/>
                </a:lnTo>
                <a:lnTo>
                  <a:pt x="0" y="153041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</p:spPr>
        <p:txBody>
          <a:bodyPr wrap="square" lIns="91440" tIns="219456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spc="2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1" name="Text Placeholder 28">
            <a:extLst>
              <a:ext uri="{FF2B5EF4-FFF2-40B4-BE49-F238E27FC236}">
                <a16:creationId xmlns:a16="http://schemas.microsoft.com/office/drawing/2014/main" id="{4AD10861-EBBA-146D-C4EC-C0252F808B5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31978" y="6152835"/>
            <a:ext cx="1833441" cy="217186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1200" spc="20" baseline="0" dirty="0">
                <a:solidFill>
                  <a:schemeClr val="bg1"/>
                </a:solidFill>
                <a:latin typeface="+mn-lt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B2A1B4-8B38-9645-3655-35A4232B984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D77F83-709B-A595-838B-A50CBBA8DB76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1">
            <a:extLst>
              <a:ext uri="{FF2B5EF4-FFF2-40B4-BE49-F238E27FC236}">
                <a16:creationId xmlns:a16="http://schemas.microsoft.com/office/drawing/2014/main" id="{3995F526-330B-DAB7-25A1-EFA47C9C80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cap="all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93B8605C-A60E-DE47-5851-9BF04601C89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2790" y="1864186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7B436DCE-21AD-38E2-5C66-1BA0938511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1805" y="2553205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3A8FAFF0-E023-1B32-CC58-E8ABA8632D2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2790" y="4057317"/>
            <a:ext cx="5753520" cy="63186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Text Placeholder 28">
            <a:extLst>
              <a:ext uri="{FF2B5EF4-FFF2-40B4-BE49-F238E27FC236}">
                <a16:creationId xmlns:a16="http://schemas.microsoft.com/office/drawing/2014/main" id="{B73215FA-B8EB-7DD7-837F-F76B74F8372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51805" y="4746336"/>
            <a:ext cx="5257800" cy="1311566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Arial" panose="020B0604020202020204" pitchFamily="34" charset="0"/>
              <a:buChar char="•"/>
              <a:defRPr lang="en-US" sz="1400" spc="0" baseline="0" dirty="0"/>
            </a:lvl1pPr>
          </a:lstStyle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Second level</a:t>
            </a:r>
          </a:p>
          <a:p>
            <a:pPr marL="285750" lvl="0" indent="-285750"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ED9AA9-2FB1-B400-47C0-803090B07B01}"/>
              </a:ext>
            </a:extLst>
          </p:cNvPr>
          <p:cNvSpPr/>
          <p:nvPr userDrawn="1"/>
        </p:nvSpPr>
        <p:spPr>
          <a:xfrm>
            <a:off x="7793831" y="810843"/>
            <a:ext cx="3091172" cy="5597912"/>
          </a:xfrm>
          <a:prstGeom prst="rect">
            <a:avLst/>
          </a:prstGeom>
          <a:solidFill>
            <a:schemeClr val="accent1">
              <a:alpha val="9323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C39E8D03-897F-C49F-D816-03B8BD630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14510" y="1066373"/>
            <a:ext cx="2243137" cy="4929188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17">
            <a:extLst>
              <a:ext uri="{FF2B5EF4-FFF2-40B4-BE49-F238E27FC236}">
                <a16:creationId xmlns:a16="http://schemas.microsoft.com/office/drawing/2014/main" id="{DE571619-8CCB-E378-472D-84C8ED7F8A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91099" y="1066373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3" name="Picture Placeholder 17">
            <a:extLst>
              <a:ext uri="{FF2B5EF4-FFF2-40B4-BE49-F238E27FC236}">
                <a16:creationId xmlns:a16="http://schemas.microsoft.com/office/drawing/2014/main" id="{4A772672-1696-B0AC-34A7-37560F101DF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91099" y="3716568"/>
            <a:ext cx="1672682" cy="2278993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615220-DA65-3A8D-609D-95B6D86B192A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C2A57F-F2BF-F3B3-9D45-5DCD2608D80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21385B8-472C-422F-2A52-C71336190A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0168" y="876301"/>
            <a:ext cx="10122632" cy="652054"/>
          </a:xfrm>
        </p:spPr>
        <p:txBody>
          <a:bodyPr anchor="ctr">
            <a:noAutofit/>
          </a:bodyPr>
          <a:lstStyle>
            <a:lvl1pPr algn="ctr">
              <a:defRPr sz="3600" baseline="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DE7CA9C-8486-4EA1-8701-DB28FF478598}"/>
              </a:ext>
            </a:extLst>
          </p:cNvPr>
          <p:cNvSpPr/>
          <p:nvPr userDrawn="1"/>
        </p:nvSpPr>
        <p:spPr>
          <a:xfrm>
            <a:off x="2060160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5C378C59-971F-BF38-742D-D95B205A12C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40257" y="200175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3BAF3E19-6FBE-8CBB-4079-33F65C860D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44257" y="3029583"/>
            <a:ext cx="2940863" cy="1002007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cap="all" spc="300" baseline="0"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C42666-9F54-E92B-0327-85CCBAD21F0A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44257" y="4053021"/>
            <a:ext cx="2944737" cy="2284667"/>
          </a:xfrm>
        </p:spPr>
        <p:txBody>
          <a:bodyPr lIns="0" tIns="0" r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FF2E1B-0868-370D-4DD5-C9FAA608FAF8}"/>
              </a:ext>
            </a:extLst>
          </p:cNvPr>
          <p:cNvSpPr/>
          <p:nvPr userDrawn="1"/>
        </p:nvSpPr>
        <p:spPr>
          <a:xfrm>
            <a:off x="5617535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B4A9B4F-A838-18BA-A205-674E6E13EB4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107541" y="200175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35959781-AA1F-7789-57AC-F3583B408E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17227" y="3064120"/>
            <a:ext cx="2940864" cy="98890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73AFA26A-367B-C958-6FDA-30DC18B3854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17226" y="4066126"/>
            <a:ext cx="2944737" cy="2284667"/>
          </a:xfrm>
        </p:spPr>
        <p:txBody>
          <a:bodyPr t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E993317-B15E-4278-C4C8-D2C8F54AED79}"/>
              </a:ext>
            </a:extLst>
          </p:cNvPr>
          <p:cNvSpPr/>
          <p:nvPr userDrawn="1"/>
        </p:nvSpPr>
        <p:spPr>
          <a:xfrm>
            <a:off x="8836567" y="2070777"/>
            <a:ext cx="956930" cy="956930"/>
          </a:xfrm>
          <a:prstGeom prst="ellipse">
            <a:avLst/>
          </a:prstGeom>
          <a:solidFill>
            <a:schemeClr val="accent1">
              <a:alpha val="7449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320E0A84-9337-4401-9D13-157978C6077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333421" y="2004710"/>
            <a:ext cx="1159161" cy="1036101"/>
          </a:xfrm>
          <a:noFill/>
        </p:spPr>
        <p:txBody>
          <a:bodyPr anchor="ctr">
            <a:noAutofit/>
          </a:bodyPr>
          <a:lstStyle>
            <a:lvl1pPr algn="ctr">
              <a:defRPr sz="1600"/>
            </a:lvl1pPr>
          </a:lstStyle>
          <a:p>
            <a:endParaRPr lang="en-US" dirty="0"/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AC8F3009-6B00-DF9F-8517-05A82655663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03008" y="3029583"/>
            <a:ext cx="2940864" cy="98890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b="1" i="0" kern="1200" cap="all" spc="300" baseline="0" dirty="0">
                <a:solidFill>
                  <a:schemeClr val="tx1"/>
                </a:solidFill>
                <a:latin typeface="+mj-lt"/>
                <a:ea typeface="+mn-ea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51E11FB-D524-5781-B4B3-F6E5484F19F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98539" y="4031589"/>
            <a:ext cx="2944737" cy="2284667"/>
          </a:xfrm>
        </p:spPr>
        <p:txBody>
          <a:bodyPr tIns="0" bIns="0"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 b="0" i="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B1E6-E67B-3B07-B464-6C782D2D21E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3D2A3-D5E9-1D68-8AB2-1DB5C21E912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1">
            <a:extLst>
              <a:ext uri="{FF2B5EF4-FFF2-40B4-BE49-F238E27FC236}">
                <a16:creationId xmlns:a16="http://schemas.microsoft.com/office/drawing/2014/main" id="{592F592C-CC3F-8FC0-DAF8-24019474C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384" y="884982"/>
            <a:ext cx="5744335" cy="979204"/>
          </a:xfrm>
        </p:spPr>
        <p:txBody>
          <a:bodyPr lIns="0" tIns="0" rIns="0" bIns="0" anchor="t">
            <a:noAutofit/>
          </a:bodyPr>
          <a:lstStyle>
            <a:lvl1pPr>
              <a:defRPr sz="3600" baseline="0"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5AF112-F5BD-9AA8-0E64-A6972333D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915" y="2046038"/>
            <a:ext cx="4831207" cy="356813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D9A5508-A146-4C36-FF14-5B78325C5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68966" y="1112838"/>
            <a:ext cx="3475649" cy="4975225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104F5115-4987-5C8E-E191-E06A29A55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10733" y="2803273"/>
            <a:ext cx="2121408" cy="2121408"/>
          </a:xfrm>
          <a:prstGeom prst="ellipse">
            <a:avLst/>
          </a:prstGeom>
          <a:solidFill>
            <a:schemeClr val="accent1">
              <a:alpha val="89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EA969D2-43E7-374C-2BD3-3ED94ADEAE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58537" y="4711495"/>
            <a:ext cx="192024" cy="1033272"/>
          </a:xfrm>
          <a:prstGeom prst="rect">
            <a:avLst/>
          </a:prstGeom>
          <a:solidFill>
            <a:schemeClr val="accent1">
              <a:alpha val="83000"/>
            </a:schemeClr>
          </a:solidFill>
        </p:spPr>
        <p:txBody>
          <a:bodyPr/>
          <a:lstStyle>
            <a:lvl1pPr>
              <a:defRPr sz="300">
                <a:solidFill>
                  <a:schemeClr val="accent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7E217-DB17-AA1B-8753-DBFDF42AB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A3F1-16D7-20B8-B929-59317A576C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79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rge walking intersection with one lone person">
            <a:extLst>
              <a:ext uri="{FF2B5EF4-FFF2-40B4-BE49-F238E27FC236}">
                <a16:creationId xmlns:a16="http://schemas.microsoft.com/office/drawing/2014/main" id="{09010683-ED2B-BF6C-90F9-AF09D38DB6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7000" contras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1811000" cy="6858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C7A66511-B85E-197E-52D6-398E0BABD4A3}"/>
              </a:ext>
            </a:extLst>
          </p:cNvPr>
          <p:cNvSpPr/>
          <p:nvPr userDrawn="1"/>
        </p:nvSpPr>
        <p:spPr>
          <a:xfrm>
            <a:off x="777819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>
              <a:alpha val="67365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36714-0A6D-7D0D-3336-B8081C409B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7196" y="2188196"/>
            <a:ext cx="5985159" cy="1594507"/>
          </a:xfrm>
        </p:spPr>
        <p:txBody>
          <a:bodyPr lIns="0" tIns="0" rIns="0" bIns="0" anchor="b">
            <a:noAutofit/>
          </a:bodyPr>
          <a:lstStyle>
            <a:lvl1pPr>
              <a:defRPr sz="3600" b="1" i="0" baseline="0">
                <a:solidFill>
                  <a:schemeClr val="bg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FA9DBC5-E4A8-5230-9CE1-902849869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7196" y="3790988"/>
            <a:ext cx="5444517" cy="1731890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9F29DD-6F0C-B005-FD16-89C061AE31C9}"/>
              </a:ext>
            </a:extLst>
          </p:cNvPr>
          <p:cNvSpPr/>
          <p:nvPr userDrawn="1"/>
        </p:nvSpPr>
        <p:spPr>
          <a:xfrm>
            <a:off x="10408059" y="1151133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980795-C54D-B27A-60D2-8758CAF840E2}"/>
              </a:ext>
            </a:extLst>
          </p:cNvPr>
          <p:cNvSpPr/>
          <p:nvPr userDrawn="1"/>
        </p:nvSpPr>
        <p:spPr>
          <a:xfrm>
            <a:off x="10987993" y="114070"/>
            <a:ext cx="190346" cy="1037063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5DD54-AC6C-8FD6-3ABF-282F1F124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CBBA03-8EAF-9651-6DC8-7316BA1FE5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 userDrawn="1"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8854442" y="2953511"/>
            <a:ext cx="6291068" cy="384048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438" y="409576"/>
            <a:ext cx="109728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5644" y="1825625"/>
            <a:ext cx="11098307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716512" y="6382510"/>
            <a:ext cx="566928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52" r:id="rId5"/>
    <p:sldLayoutId id="2147483665" r:id="rId6"/>
    <p:sldLayoutId id="2147483653" r:id="rId7"/>
    <p:sldLayoutId id="2147483654" r:id="rId8"/>
    <p:sldLayoutId id="2147483658" r:id="rId9"/>
    <p:sldLayoutId id="2147483655" r:id="rId10"/>
    <p:sldLayoutId id="2147483656" r:id="rId11"/>
    <p:sldLayoutId id="2147483657" r:id="rId12"/>
    <p:sldLayoutId id="2147483664" r:id="rId13"/>
    <p:sldLayoutId id="2147483663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orient="horz" pos="1152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19" userDrawn="1">
          <p15:clr>
            <a:srgbClr val="547EBF"/>
          </p15:clr>
        </p15:guide>
        <p15:guide id="20" pos="7680" userDrawn="1">
          <p15:clr>
            <a:srgbClr val="547EBF"/>
          </p15:clr>
        </p15:guide>
        <p15:guide id="21" pos="528" userDrawn="1">
          <p15:clr>
            <a:srgbClr val="547EBF"/>
          </p15:clr>
        </p15:guide>
        <p15:guide id="22" pos="6912" userDrawn="1">
          <p15:clr>
            <a:srgbClr val="547EBF"/>
          </p15:clr>
        </p15:guide>
        <p15:guide id="23" orient="horz" pos="240" userDrawn="1">
          <p15:clr>
            <a:srgbClr val="547EBF"/>
          </p15:clr>
        </p15:guide>
        <p15:guide id="2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7.wdp"/><Relationship Id="rId5" Type="http://schemas.openxmlformats.org/officeDocument/2006/relationships/image" Target="../media/image7.png"/><Relationship Id="rId4" Type="http://schemas.microsoft.com/office/2007/relationships/hdphoto" Target="../media/hdphoto6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9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hsanTasli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228BAE-048B-681E-DD8D-BD96B22560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Predicting laptop Prices</a:t>
            </a:r>
            <a:br>
              <a:rPr lang="en-US" sz="3200" dirty="0"/>
            </a:br>
            <a:br>
              <a:rPr lang="en-US" sz="3200" dirty="0"/>
            </a:br>
            <a:r>
              <a:rPr lang="en-US" sz="1800" spc="300" dirty="0"/>
              <a:t>“What Really Drives the Market?”</a:t>
            </a:r>
            <a:endParaRPr lang="en-US" sz="3200" spc="3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AFD8D3D-82CB-EA16-814E-A3FED8BBF3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Abdullah Ihsan Taslim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84E2-4C7E-D7E0-9603-A0CE74BC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22" name="Picture Placeholder 11" descr="Close-up of skyscrapers">
            <a:extLst>
              <a:ext uri="{FF2B5EF4-FFF2-40B4-BE49-F238E27FC236}">
                <a16:creationId xmlns:a16="http://schemas.microsoft.com/office/drawing/2014/main" id="{02CB0A40-C392-7AEB-F580-EA0981B3CBE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  <a14:imgEffect>
                      <a14:saturation sat="0"/>
                    </a14:imgEffect>
                    <a14:imgEffect>
                      <a14:brightnessContrast bright="26000" contrast="-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blipFill dpi="0" rotWithShape="1">
            <a:blip r:embed="rId5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124"/>
            </a:stretch>
          </a:blipFill>
        </p:spPr>
      </p:pic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50CB90F-9D48-F8DD-961F-C3F1AE2B2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  <a:p>
            <a:r>
              <a:rPr lang="en-US" dirty="0"/>
              <a:t>The Market Landscape</a:t>
            </a:r>
          </a:p>
          <a:p>
            <a:r>
              <a:rPr lang="en-US" dirty="0"/>
              <a:t>Dominant features</a:t>
            </a:r>
          </a:p>
          <a:p>
            <a:r>
              <a:rPr lang="en-US" dirty="0"/>
              <a:t>Model Specification</a:t>
            </a:r>
          </a:p>
          <a:p>
            <a:r>
              <a:rPr lang="en-US" dirty="0"/>
              <a:t>Business Value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15BEAD-012C-AF1F-9EBB-243A511C9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107" y="638594"/>
            <a:ext cx="2743200" cy="1336433"/>
          </a:xfrm>
          <a:prstGeom prst="rect">
            <a:avLst/>
          </a:prstGeom>
          <a:solidFill>
            <a:srgbClr val="4A5EE6">
              <a:alpha val="87843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78531-1E9F-3E5A-7A85-E9CA9A5C7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2" y="2918445"/>
            <a:ext cx="251791" cy="2071501"/>
          </a:xfrm>
          <a:prstGeom prst="rect">
            <a:avLst/>
          </a:prstGeom>
          <a:solidFill>
            <a:srgbClr val="4A5EE6">
              <a:alpha val="76078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73505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752655-72F7-26B4-5DA5-07E2346C1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</a:t>
            </a:r>
          </a:p>
        </p:txBody>
      </p:sp>
      <p:pic>
        <p:nvPicPr>
          <p:cNvPr id="15" name="Picture Placeholder 14" descr="White modern architecture">
            <a:extLst>
              <a:ext uri="{FF2B5EF4-FFF2-40B4-BE49-F238E27FC236}">
                <a16:creationId xmlns:a16="http://schemas.microsoft.com/office/drawing/2014/main" id="{6D77A1A7-7876-7DF9-AF3A-C47588011CB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FC01B0-7BC5-5869-A281-EF11B59BA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8649" y="2087562"/>
            <a:ext cx="4652912" cy="3891067"/>
          </a:xfrm>
        </p:spPr>
        <p:txBody>
          <a:bodyPr/>
          <a:lstStyle/>
          <a:p>
            <a:r>
              <a:rPr lang="en-US" dirty="0"/>
              <a:t>The aim of this study is to analyze dataset that contains detailed information about </a:t>
            </a:r>
            <a:r>
              <a:rPr lang="en-US" b="1" dirty="0"/>
              <a:t>1,302 laptops</a:t>
            </a:r>
            <a:r>
              <a:rPr lang="en-US" dirty="0"/>
              <a:t> from various manufacturers. And Implementing ETL, EDA and Modelling in order to answer these question:</a:t>
            </a:r>
            <a:br>
              <a:rPr lang="en-US" dirty="0"/>
            </a:br>
            <a:r>
              <a:rPr lang="en-US" i="1" dirty="0"/>
              <a:t>“</a:t>
            </a:r>
            <a:r>
              <a:rPr lang="en-US" i="1" dirty="0">
                <a:solidFill>
                  <a:srgbClr val="4878D0"/>
                </a:solidFill>
              </a:rPr>
              <a:t>What features contributes to </a:t>
            </a:r>
            <a:r>
              <a:rPr lang="en-US" b="1" i="1" spc="300" dirty="0">
                <a:solidFill>
                  <a:srgbClr val="4878D0"/>
                </a:solidFill>
              </a:rPr>
              <a:t>price</a:t>
            </a:r>
            <a:r>
              <a:rPr lang="en-US" i="1" dirty="0">
                <a:solidFill>
                  <a:srgbClr val="4878D0"/>
                </a:solidFill>
              </a:rPr>
              <a:t> increase?”</a:t>
            </a:r>
            <a:br>
              <a:rPr lang="en-US" i="1" dirty="0"/>
            </a:br>
            <a:r>
              <a:rPr lang="en-US" i="1" dirty="0"/>
              <a:t>“</a:t>
            </a:r>
            <a:r>
              <a:rPr lang="en-US" i="1" dirty="0">
                <a:solidFill>
                  <a:srgbClr val="4878D0"/>
                </a:solidFill>
              </a:rPr>
              <a:t>Can a model be made to predict laptop price </a:t>
            </a:r>
            <a:r>
              <a:rPr lang="en-US" b="1" i="1" spc="300" dirty="0">
                <a:solidFill>
                  <a:srgbClr val="4878D0"/>
                </a:solidFill>
              </a:rPr>
              <a:t>accurately</a:t>
            </a:r>
            <a:r>
              <a:rPr lang="en-US" i="1" dirty="0">
                <a:solidFill>
                  <a:srgbClr val="4878D0"/>
                </a:solidFill>
              </a:rPr>
              <a:t>?” 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2E16497-4AD4-29BC-9602-2FDFDA688E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2D1EE3-10BA-7879-1DC3-ACF7D44361D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50014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D23D-C216-EACA-CF1F-6FEB2EDB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4EAA54-7286-16C8-7158-253AEEDA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63" y="118065"/>
            <a:ext cx="10506416" cy="1128519"/>
          </a:xfrm>
        </p:spPr>
        <p:txBody>
          <a:bodyPr/>
          <a:lstStyle/>
          <a:p>
            <a:r>
              <a:rPr lang="en-US" sz="1050" dirty="0">
                <a:solidFill>
                  <a:schemeClr val="bg1"/>
                </a:solidFill>
              </a:rPr>
              <a:t>Intro</a:t>
            </a:r>
          </a:p>
        </p:txBody>
      </p:sp>
      <p:pic>
        <p:nvPicPr>
          <p:cNvPr id="15" name="Picture Placeholder 14" descr="White modern architecture">
            <a:extLst>
              <a:ext uri="{FF2B5EF4-FFF2-40B4-BE49-F238E27FC236}">
                <a16:creationId xmlns:a16="http://schemas.microsoft.com/office/drawing/2014/main" id="{2546DCEF-2FF2-C25A-525F-64AEE612A8B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 cstate="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3016BCD-3968-C7F8-C411-93A797B9FB4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1B26826-A26E-A116-50AF-4131C5376C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96F2EC-A7D5-30BE-D4B2-248D8FB3B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987993"/>
              </p:ext>
            </p:extLst>
          </p:nvPr>
        </p:nvGraphicFramePr>
        <p:xfrm>
          <a:off x="4650658" y="884980"/>
          <a:ext cx="6930218" cy="5488366"/>
        </p:xfrm>
        <a:graphic>
          <a:graphicData uri="http://schemas.openxmlformats.org/drawingml/2006/table">
            <a:tbl>
              <a:tblPr>
                <a:tableStyleId>{E8034E78-7F5D-4C2E-B375-FC64B27BC917}</a:tableStyleId>
              </a:tblPr>
              <a:tblGrid>
                <a:gridCol w="1589072">
                  <a:extLst>
                    <a:ext uri="{9D8B030D-6E8A-4147-A177-3AD203B41FA5}">
                      <a16:colId xmlns:a16="http://schemas.microsoft.com/office/drawing/2014/main" val="2962832849"/>
                    </a:ext>
                  </a:extLst>
                </a:gridCol>
                <a:gridCol w="5341146">
                  <a:extLst>
                    <a:ext uri="{9D8B030D-6E8A-4147-A177-3AD203B41FA5}">
                      <a16:colId xmlns:a16="http://schemas.microsoft.com/office/drawing/2014/main" val="2926021368"/>
                    </a:ext>
                  </a:extLst>
                </a:gridCol>
              </a:tblGrid>
              <a:tr h="292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Feature</a:t>
                      </a:r>
                    </a:p>
                  </a:txBody>
                  <a:tcPr marL="65929" marR="65929" marT="32965" marB="32965"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65929" marR="65929" marT="32965" marB="32965" anchor="ctr"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41437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</a:rPr>
                        <a:t>Unnamed: 0</a:t>
                      </a:r>
                    </a:p>
                  </a:txBody>
                  <a:tcPr marL="65929" marR="65929" marT="32965" marB="32965"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Unique identifier/index</a:t>
                      </a:r>
                    </a:p>
                  </a:txBody>
                  <a:tcPr marL="65929" marR="65929" marT="32965" marB="32965" anchor="ctr"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2481584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Company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Laptop manufacturer (Apple, HP, Dell, Lenovo, etc.)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834845"/>
                  </a:ext>
                </a:extLst>
              </a:tr>
              <a:tr h="51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TypeName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Laptop category (Notebook, Ultrabook, Gaming, Workstation, etc.)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898974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Ram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Installed RAM size (GB)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087926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Weight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Laptop weight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062409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Price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Laptop price (Target Variable)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124156"/>
                  </a:ext>
                </a:extLst>
              </a:tr>
              <a:tr h="51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TouchScreen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Indicates whether the laptop has a touchscreen (0/1)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748270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Ips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Indicates IPS display technology (0/1)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955390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ppi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Pixels per inch (screen pixel density)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486712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Cpu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Brand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Processor manufacturer/brand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033739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HDD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Hard Disk Drive storage capacity (GB)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377642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SSD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Solid State Drive storage capacity (GB)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10830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Gpu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Brand</a:t>
                      </a: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Graphics card manufacturer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013292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</a:rPr>
                        <a:t>os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65929" marR="65929" marT="32965" marB="3296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Operating System category</a:t>
                      </a:r>
                    </a:p>
                  </a:txBody>
                  <a:tcPr marL="65929" marR="65929" marT="32965" marB="3296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398713"/>
                  </a:ext>
                </a:extLst>
              </a:tr>
            </a:tbl>
          </a:graphicData>
        </a:graphic>
      </p:graphicFrame>
      <p:sp>
        <p:nvSpPr>
          <p:cNvPr id="8" name="Title 2">
            <a:extLst>
              <a:ext uri="{FF2B5EF4-FFF2-40B4-BE49-F238E27FC236}">
                <a16:creationId xmlns:a16="http://schemas.microsoft.com/office/drawing/2014/main" id="{7EF1027E-C837-04A1-1B85-6D6F0A74C136}"/>
              </a:ext>
            </a:extLst>
          </p:cNvPr>
          <p:cNvSpPr txBox="1">
            <a:spLocks/>
          </p:cNvSpPr>
          <p:nvPr/>
        </p:nvSpPr>
        <p:spPr>
          <a:xfrm>
            <a:off x="999784" y="1037381"/>
            <a:ext cx="10506416" cy="11285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 cap="all" spc="600" baseline="0">
                <a:solidFill>
                  <a:schemeClr val="tx1"/>
                </a:solidFill>
                <a:latin typeface="+mj-lt"/>
                <a:ea typeface="+mj-ea"/>
                <a:cs typeface="Arial Black" panose="020B0604020202020204" pitchFamily="34" charset="0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Data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228059960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D3C5A-CEA8-6DDC-B3F1-41D07C4FA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 Landscape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E8B56C7-C38F-E96E-3C19-8ACF8AF9E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Findings Based on the dataset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0E13AC-B5E7-B132-0EB7-541E53B3DA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The Market Landscape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6E68C1-1703-73CF-D4D8-D10C96073F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61532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B9C5-183A-3556-D047-215BDB00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0" y="433849"/>
            <a:ext cx="10122632" cy="652054"/>
          </a:xfrm>
        </p:spPr>
        <p:txBody>
          <a:bodyPr/>
          <a:lstStyle/>
          <a:p>
            <a:r>
              <a:rPr lang="en-US" dirty="0"/>
              <a:t>Microsoft Dominates the ecosystem with </a:t>
            </a:r>
            <a:r>
              <a:rPr lang="en-US" dirty="0">
                <a:solidFill>
                  <a:srgbClr val="4878D0"/>
                </a:solidFill>
              </a:rPr>
              <a:t>windows 10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636772-0FC0-04E1-F535-F4DF7DAB98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The Market Landscape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3CCEA-C12A-DDE4-040B-E2BBFEC5AE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685B430-AFB5-D3C9-04AC-435F9D1990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12331"/>
          <a:stretch>
            <a:fillRect/>
          </a:stretch>
        </p:blipFill>
        <p:spPr>
          <a:xfrm>
            <a:off x="-450794" y="1278194"/>
            <a:ext cx="8673135" cy="57027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DCAE06-6950-79E8-450D-2060DC853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371" y="3992417"/>
            <a:ext cx="2865581" cy="286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5248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2F1FD-CB16-6BDA-8313-A4E371E7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E8A431B-BF63-509C-CA7E-9C95703D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19200" y="1425677"/>
            <a:ext cx="5305260" cy="530526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D0BC0-CCEC-8157-5E5F-A123610553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The Market Landscape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5C52AB-E870-FD7A-78E6-2BA281C547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6F15230-6887-AB4E-7978-EC96AF87B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371" y="3992419"/>
            <a:ext cx="2865581" cy="2865581"/>
          </a:xfrm>
          <a:prstGeom prst="rect">
            <a:avLst/>
          </a:prstGeom>
        </p:spPr>
      </p:pic>
      <p:sp>
        <p:nvSpPr>
          <p:cNvPr id="37" name="Title 36">
            <a:extLst>
              <a:ext uri="{FF2B5EF4-FFF2-40B4-BE49-F238E27FC236}">
                <a16:creationId xmlns:a16="http://schemas.microsoft.com/office/drawing/2014/main" id="{87076580-B24B-F526-C4D3-D53D978C1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Meawhile</a:t>
            </a:r>
            <a:r>
              <a:rPr lang="en-US" dirty="0"/>
              <a:t> </a:t>
            </a:r>
            <a:r>
              <a:rPr lang="en-US" dirty="0">
                <a:solidFill>
                  <a:srgbClr val="4878D0"/>
                </a:solidFill>
              </a:rPr>
              <a:t>Lenovo</a:t>
            </a:r>
            <a:r>
              <a:rPr lang="en-US" dirty="0"/>
              <a:t>, </a:t>
            </a:r>
            <a:r>
              <a:rPr lang="en-US" dirty="0">
                <a:solidFill>
                  <a:srgbClr val="4878D0"/>
                </a:solidFill>
              </a:rPr>
              <a:t>Dell</a:t>
            </a:r>
            <a:r>
              <a:rPr lang="en-US" dirty="0"/>
              <a:t> &amp; </a:t>
            </a:r>
            <a:r>
              <a:rPr lang="en-US" dirty="0">
                <a:solidFill>
                  <a:srgbClr val="4878D0"/>
                </a:solidFill>
              </a:rPr>
              <a:t>HP</a:t>
            </a:r>
            <a:r>
              <a:rPr lang="en-US" dirty="0"/>
              <a:t> dominate the hardware</a:t>
            </a:r>
          </a:p>
        </p:txBody>
      </p:sp>
    </p:spTree>
    <p:extLst>
      <p:ext uri="{BB962C8B-B14F-4D97-AF65-F5344CB8AC3E}">
        <p14:creationId xmlns:p14="http://schemas.microsoft.com/office/powerpoint/2010/main" val="48924633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5B2B-A54C-8996-BFA3-8827DDB6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D11CBF5-42DD-50D6-7787-BAEA8EA786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2813" y="1641988"/>
            <a:ext cx="4647688" cy="4647688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3B4F0EFF-0A62-9F0B-6B7A-436AF668403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32795" y="1641988"/>
            <a:ext cx="6196915" cy="464768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3DEBB4A-5E1D-D8D9-883A-C6F16F80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end device, </a:t>
            </a:r>
            <a:r>
              <a:rPr lang="en-US" dirty="0">
                <a:solidFill>
                  <a:srgbClr val="4878D0"/>
                </a:solidFill>
              </a:rPr>
              <a:t>notebook</a:t>
            </a:r>
            <a:r>
              <a:rPr lang="en-US" dirty="0"/>
              <a:t> Prices around </a:t>
            </a:r>
            <a:r>
              <a:rPr lang="en-US" dirty="0">
                <a:solidFill>
                  <a:srgbClr val="4878D0"/>
                </a:solidFill>
              </a:rPr>
              <a:t>50K</a:t>
            </a:r>
            <a:r>
              <a:rPr lang="en-US" dirty="0"/>
              <a:t> saturating the market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951083-A86D-B5CC-2732-27A2873F13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The Market Landscape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15EF7-18B5-2D9E-7B88-AC86AACD7C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85966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2C975-C0D8-5635-3CD4-B28EE3571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Thus, What is the </a:t>
            </a:r>
            <a:r>
              <a:rPr lang="en-US" dirty="0">
                <a:solidFill>
                  <a:srgbClr val="4878D0"/>
                </a:solidFill>
              </a:rPr>
              <a:t>features</a:t>
            </a:r>
            <a:r>
              <a:rPr lang="en-US" dirty="0"/>
              <a:t> that dictate       the prices?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B6991-4690-5E5C-1B86-4715D2403B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FC8D39-E9E2-B0C8-13B1-31595C9896D1}"/>
              </a:ext>
            </a:extLst>
          </p:cNvPr>
          <p:cNvSpPr/>
          <p:nvPr/>
        </p:nvSpPr>
        <p:spPr>
          <a:xfrm>
            <a:off x="560111" y="801377"/>
            <a:ext cx="2808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Gill Sans Ultra Bold" panose="020B0A02020104020203" pitchFamily="34" charset="77"/>
              </a:rPr>
              <a:t>“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C9DCBA-073E-C693-608A-D60E4C7CD5BF}"/>
              </a:ext>
            </a:extLst>
          </p:cNvPr>
          <p:cNvSpPr/>
          <p:nvPr/>
        </p:nvSpPr>
        <p:spPr>
          <a:xfrm>
            <a:off x="9009602" y="1801064"/>
            <a:ext cx="2808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Gill Sans Ultra Bold" panose="020B0A02020104020203" pitchFamily="34" charset="77"/>
              </a:rPr>
              <a:t>”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FE709F-757F-9DAB-DC56-68FD7C46FC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What Actually Drives Price?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7158D5-C54E-C1C2-70BB-D7F577BB8A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09834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7A3EC-75F9-99CF-EE53-2D01BDD0E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723" y="1104229"/>
            <a:ext cx="5791200" cy="652054"/>
          </a:xfrm>
        </p:spPr>
        <p:txBody>
          <a:bodyPr/>
          <a:lstStyle/>
          <a:p>
            <a:pPr algn="r"/>
            <a:r>
              <a:rPr lang="en-US" dirty="0">
                <a:solidFill>
                  <a:srgbClr val="4878D0"/>
                </a:solidFill>
              </a:rPr>
              <a:t>RAM</a:t>
            </a:r>
            <a:r>
              <a:rPr lang="en-US" dirty="0"/>
              <a:t> &amp; </a:t>
            </a:r>
            <a:r>
              <a:rPr lang="en-US" dirty="0">
                <a:solidFill>
                  <a:srgbClr val="4878D0"/>
                </a:solidFill>
              </a:rPr>
              <a:t>SSD</a:t>
            </a:r>
            <a:r>
              <a:rPr lang="en-US" dirty="0"/>
              <a:t> Are the dictators of the price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5E3EF20-E4F2-E6AE-4ADE-3BA3B82D3A4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84965468"/>
              </p:ext>
            </p:extLst>
          </p:nvPr>
        </p:nvGraphicFramePr>
        <p:xfrm>
          <a:off x="4865567" y="2251587"/>
          <a:ext cx="597135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5678">
                  <a:extLst>
                    <a:ext uri="{9D8B030D-6E8A-4147-A177-3AD203B41FA5}">
                      <a16:colId xmlns:a16="http://schemas.microsoft.com/office/drawing/2014/main" val="2596847656"/>
                    </a:ext>
                  </a:extLst>
                </a:gridCol>
                <a:gridCol w="2985678">
                  <a:extLst>
                    <a:ext uri="{9D8B030D-6E8A-4147-A177-3AD203B41FA5}">
                      <a16:colId xmlns:a16="http://schemas.microsoft.com/office/drawing/2014/main" val="1026309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Correlation with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87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7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753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Screen size (Pixels)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532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GHz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718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Nvidia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3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Laptop Type (Gaming &amp; Notebook)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(Gaming=0.38</a:t>
                      </a:r>
                    </a:p>
                    <a:p>
                      <a:r>
                        <a:rPr lang="en-US" dirty="0"/>
                        <a:t>&amp; Notebook=-0.55)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08022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20A1C-4F70-5CCC-04DA-2AB5AFE0A9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What Actually Drives Price?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534C9-F32E-4AFB-0797-D2FAC95656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98F738-2544-3B31-BB8E-6D7E8FCE4798}"/>
              </a:ext>
            </a:extLst>
          </p:cNvPr>
          <p:cNvGrpSpPr/>
          <p:nvPr/>
        </p:nvGrpSpPr>
        <p:grpSpPr>
          <a:xfrm>
            <a:off x="186844" y="283466"/>
            <a:ext cx="2861156" cy="6291068"/>
            <a:chOff x="167179" y="88491"/>
            <a:chExt cx="3216348" cy="676950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9E87EB0-043B-1D71-63F2-FF0A20CE7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766" r="21768"/>
            <a:stretch>
              <a:fillRect/>
            </a:stretch>
          </p:blipFill>
          <p:spPr>
            <a:xfrm>
              <a:off x="167179" y="334297"/>
              <a:ext cx="2474896" cy="652370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CB9841-DB4F-4AB7-AF0A-496E72080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77167" t="6815" b="7197"/>
            <a:stretch>
              <a:fillRect/>
            </a:stretch>
          </p:blipFill>
          <p:spPr>
            <a:xfrm>
              <a:off x="2661200" y="88491"/>
              <a:ext cx="722327" cy="6720347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C3CA9E4-30E1-557E-66EA-A9CE435711A8}"/>
              </a:ext>
            </a:extLst>
          </p:cNvPr>
          <p:cNvGrpSpPr/>
          <p:nvPr/>
        </p:nvGrpSpPr>
        <p:grpSpPr>
          <a:xfrm>
            <a:off x="4554109" y="5258467"/>
            <a:ext cx="6282814" cy="990608"/>
            <a:chOff x="5004618" y="4778477"/>
            <a:chExt cx="6282814" cy="990608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4042890-9604-5D75-CE04-63BC4555FDAD}"/>
                </a:ext>
              </a:extLst>
            </p:cNvPr>
            <p:cNvSpPr txBox="1"/>
            <p:nvPr/>
          </p:nvSpPr>
          <p:spPr>
            <a:xfrm>
              <a:off x="5004618" y="4778477"/>
              <a:ext cx="61927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* The closer it gets to 1 &amp; -1 the stronger it is at </a:t>
              </a:r>
              <a:r>
                <a:rPr lang="en-US" sz="1600" dirty="0">
                  <a:solidFill>
                    <a:schemeClr val="accent4"/>
                  </a:solidFill>
                </a:rPr>
                <a:t>affecting price</a:t>
              </a: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FC4893B0-84E9-D581-F08A-AD503CF1C0C8}"/>
                </a:ext>
              </a:extLst>
            </p:cNvPr>
            <p:cNvSpPr txBox="1">
              <a:spLocks/>
            </p:cNvSpPr>
            <p:nvPr/>
          </p:nvSpPr>
          <p:spPr>
            <a:xfrm>
              <a:off x="5094696" y="5117031"/>
              <a:ext cx="6192736" cy="652054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i="0" kern="1200" cap="all" spc="600" baseline="0">
                  <a:solidFill>
                    <a:schemeClr val="tx1"/>
                  </a:solidFill>
                  <a:latin typeface="+mj-lt"/>
                  <a:ea typeface="+mj-ea"/>
                  <a:cs typeface="Arial Black" panose="020B0604020202020204" pitchFamily="34" charset="0"/>
                </a:defRPr>
              </a:lvl1pPr>
            </a:lstStyle>
            <a:p>
              <a:pPr algn="l"/>
              <a:r>
                <a:rPr lang="en-US" sz="1600" b="0" cap="none" spc="0" dirty="0">
                  <a:latin typeface="+mn-lt"/>
                </a:rPr>
                <a:t>*</a:t>
              </a:r>
              <a:r>
                <a:rPr lang="en-US" sz="1600" b="0" cap="none" spc="0" dirty="0">
                  <a:solidFill>
                    <a:schemeClr val="accent4"/>
                  </a:solidFill>
                  <a:latin typeface="+mn-lt"/>
                </a:rPr>
                <a:t> </a:t>
              </a:r>
              <a:r>
                <a:rPr lang="en-US" sz="1600" b="0" cap="none" spc="0" dirty="0">
                  <a:latin typeface="+mn-lt"/>
                </a:rPr>
                <a:t>There is also “</a:t>
              </a:r>
              <a:r>
                <a:rPr lang="en-US" sz="1600" b="0" cap="none" spc="0" dirty="0">
                  <a:solidFill>
                    <a:schemeClr val="accent4"/>
                  </a:solidFill>
                  <a:latin typeface="+mn-lt"/>
                </a:rPr>
                <a:t>gaming premium</a:t>
              </a:r>
              <a:r>
                <a:rPr lang="en-US" sz="1600" b="0" cap="none" spc="0" dirty="0">
                  <a:latin typeface="+mn-lt"/>
                </a:rPr>
                <a:t>” that indicate specialized, pricier hardware (as noted by </a:t>
              </a:r>
              <a:r>
                <a:rPr lang="en-US" sz="1600" b="0" cap="none" spc="0" dirty="0">
                  <a:solidFill>
                    <a:schemeClr val="accent4"/>
                  </a:solidFill>
                  <a:latin typeface="+mn-lt"/>
                </a:rPr>
                <a:t>Nvidia GPU</a:t>
              </a:r>
              <a:r>
                <a:rPr lang="en-US" sz="1600" b="0" cap="none" spc="0" dirty="0">
                  <a:latin typeface="+mn-lt"/>
                </a:rPr>
                <a:t> &amp; </a:t>
              </a:r>
              <a:r>
                <a:rPr lang="en-US" sz="1600" b="0" cap="none" spc="0" dirty="0">
                  <a:solidFill>
                    <a:schemeClr val="accent4"/>
                  </a:solidFill>
                  <a:latin typeface="+mn-lt"/>
                </a:rPr>
                <a:t>Gaming Laptop Type</a:t>
              </a:r>
              <a:r>
                <a:rPr lang="en-US" sz="1600" b="0" cap="none" spc="0" dirty="0">
                  <a:latin typeface="+mn-lt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08506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06C11-1C64-AEDB-968C-F1D548C7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A3BD-8666-C625-FBC5-964F3D11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44" y="1104229"/>
            <a:ext cx="8555466" cy="652054"/>
          </a:xfrm>
        </p:spPr>
        <p:txBody>
          <a:bodyPr/>
          <a:lstStyle/>
          <a:p>
            <a:pPr algn="l"/>
            <a:r>
              <a:rPr lang="en-US" dirty="0"/>
              <a:t>These </a:t>
            </a:r>
            <a:r>
              <a:rPr lang="en-US" dirty="0">
                <a:solidFill>
                  <a:srgbClr val="4878D0"/>
                </a:solidFill>
              </a:rPr>
              <a:t>features</a:t>
            </a:r>
            <a:r>
              <a:rPr lang="en-US" dirty="0"/>
              <a:t> are What’s going to shape the model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3A51844-3E0A-6DA6-31FC-A18F9D75C1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80041614"/>
              </p:ext>
            </p:extLst>
          </p:nvPr>
        </p:nvGraphicFramePr>
        <p:xfrm>
          <a:off x="500044" y="2244092"/>
          <a:ext cx="597135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5678">
                  <a:extLst>
                    <a:ext uri="{9D8B030D-6E8A-4147-A177-3AD203B41FA5}">
                      <a16:colId xmlns:a16="http://schemas.microsoft.com/office/drawing/2014/main" val="2596847656"/>
                    </a:ext>
                  </a:extLst>
                </a:gridCol>
                <a:gridCol w="2985678">
                  <a:extLst>
                    <a:ext uri="{9D8B030D-6E8A-4147-A177-3AD203B41FA5}">
                      <a16:colId xmlns:a16="http://schemas.microsoft.com/office/drawing/2014/main" val="1026309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Correlation with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871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76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753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Screen size (Pixels)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532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 GHz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718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Nvidia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30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Laptop Type (Gaming &amp; Notebook)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(Gaming=0.38</a:t>
                      </a:r>
                    </a:p>
                    <a:p>
                      <a:r>
                        <a:rPr lang="en-US" dirty="0"/>
                        <a:t>&amp; Notebook=-0.55)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080222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19A5CC-B9C4-05FC-9213-AD29645D92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What Actually Drives Price?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AE1F1-2B87-D118-F88B-5E4D112C9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963DB4-B304-787E-FEC5-FFC18EB72C24}"/>
              </a:ext>
            </a:extLst>
          </p:cNvPr>
          <p:cNvSpPr txBox="1"/>
          <p:nvPr/>
        </p:nvSpPr>
        <p:spPr>
          <a:xfrm>
            <a:off x="500044" y="5300461"/>
            <a:ext cx="6192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* Using a threshold of </a:t>
            </a:r>
            <a:r>
              <a:rPr lang="en-US" sz="1600" dirty="0">
                <a:solidFill>
                  <a:srgbClr val="4878D0"/>
                </a:solidFill>
              </a:rPr>
              <a:t>correlation point </a:t>
            </a:r>
            <a:r>
              <a:rPr lang="en-US" sz="1600" b="1" dirty="0">
                <a:solidFill>
                  <a:srgbClr val="4878D0"/>
                </a:solidFill>
              </a:rPr>
              <a:t>&gt; 0.3 </a:t>
            </a:r>
            <a:r>
              <a:rPr lang="en-US" sz="1600" dirty="0">
                <a:solidFill>
                  <a:srgbClr val="4878D0"/>
                </a:solidFill>
              </a:rPr>
              <a:t>&amp; </a:t>
            </a:r>
            <a:r>
              <a:rPr lang="en-US" sz="1600" b="1" dirty="0">
                <a:solidFill>
                  <a:srgbClr val="4878D0"/>
                </a:solidFill>
              </a:rPr>
              <a:t>&lt; -0.3 </a:t>
            </a:r>
            <a:r>
              <a:rPr lang="en-US" sz="1600" dirty="0">
                <a:solidFill>
                  <a:srgbClr val="000000"/>
                </a:solidFill>
              </a:rPr>
              <a:t>to get </a:t>
            </a:r>
            <a:r>
              <a:rPr lang="en-US" sz="1600" dirty="0">
                <a:solidFill>
                  <a:srgbClr val="4878D0"/>
                </a:solidFill>
              </a:rPr>
              <a:t>moderate to strong </a:t>
            </a:r>
            <a:r>
              <a:rPr lang="en-US" sz="1600" dirty="0">
                <a:solidFill>
                  <a:srgbClr val="000000"/>
                </a:solidFill>
              </a:rPr>
              <a:t>correlation with price</a:t>
            </a:r>
          </a:p>
        </p:txBody>
      </p:sp>
    </p:spTree>
    <p:extLst>
      <p:ext uri="{BB962C8B-B14F-4D97-AF65-F5344CB8AC3E}">
        <p14:creationId xmlns:p14="http://schemas.microsoft.com/office/powerpoint/2010/main" val="1320030457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E08AFA-B0A6-6414-059D-F0667A8B75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alphaModFix/>
          </a:blip>
          <a:srcRect t="18935"/>
          <a:stretch>
            <a:fillRect/>
          </a:stretch>
        </p:blipFill>
        <p:spPr>
          <a:xfrm>
            <a:off x="1034684" y="2585884"/>
            <a:ext cx="10122632" cy="306400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616A68-AFF0-B905-AEDD-6E92E82093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Hardware Hierarchy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116C9-A3A9-E8EC-8793-AB9DE03F42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542A04-50CA-E916-E1B4-D05E9DB9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Upgrading </a:t>
            </a:r>
            <a:r>
              <a:rPr lang="en-US" dirty="0">
                <a:solidFill>
                  <a:srgbClr val="4878D0"/>
                </a:solidFill>
              </a:rPr>
              <a:t>Ram</a:t>
            </a:r>
            <a:r>
              <a:rPr lang="en-US" dirty="0"/>
              <a:t> almost cost double than better screen or CPU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96B68-ECF4-4641-947D-EAED15232E99}"/>
              </a:ext>
            </a:extLst>
          </p:cNvPr>
          <p:cNvSpPr txBox="1"/>
          <p:nvPr/>
        </p:nvSpPr>
        <p:spPr>
          <a:xfrm>
            <a:off x="850168" y="5397910"/>
            <a:ext cx="106535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Looking at </a:t>
            </a:r>
            <a:r>
              <a:rPr lang="en-US" dirty="0">
                <a:solidFill>
                  <a:srgbClr val="4878D0"/>
                </a:solidFill>
              </a:rPr>
              <a:t>Coefficient of the model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Ram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affecting price by 14.395,82 point </a:t>
            </a:r>
            <a:r>
              <a:rPr lang="en-US" dirty="0"/>
              <a:t>almost double SSD at 8.000,63 point &amp; triple Pixels at 5.349,26 point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54C8A1-B43C-645E-E860-52C458D0FBF4}"/>
              </a:ext>
            </a:extLst>
          </p:cNvPr>
          <p:cNvSpPr/>
          <p:nvPr/>
        </p:nvSpPr>
        <p:spPr>
          <a:xfrm>
            <a:off x="3222683" y="3136491"/>
            <a:ext cx="1936955" cy="646331"/>
          </a:xfrm>
          <a:prstGeom prst="rect">
            <a:avLst/>
          </a:prstGeom>
          <a:noFill/>
          <a:ln w="28575">
            <a:solidFill>
              <a:srgbClr val="4A5E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8F68F2-0028-50B5-CD2F-A4F747C3CA87}"/>
              </a:ext>
            </a:extLst>
          </p:cNvPr>
          <p:cNvSpPr txBox="1"/>
          <p:nvPr/>
        </p:nvSpPr>
        <p:spPr>
          <a:xfrm>
            <a:off x="3861780" y="2353145"/>
            <a:ext cx="470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Variable summary of the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336076651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7A470C6-FF24-FAD6-8EF7-30205060C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84" y="322874"/>
            <a:ext cx="10506416" cy="1128519"/>
          </a:xfrm>
        </p:spPr>
        <p:txBody>
          <a:bodyPr/>
          <a:lstStyle/>
          <a:p>
            <a:r>
              <a:rPr lang="en-US" dirty="0"/>
              <a:t>The models Performance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3080F11F-A29C-8CDB-7453-8B4D7AA0817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3877" b="3877"/>
          <a:stretch>
            <a:fillRect/>
          </a:stretch>
        </p:blipFill>
        <p:spPr>
          <a:xfrm>
            <a:off x="279747" y="1809135"/>
            <a:ext cx="6471827" cy="4765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3AC766C-4392-F849-3E2D-CCA3814B5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2188" y="3298659"/>
            <a:ext cx="4375150" cy="261052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tight cluster of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green dot following the red line</a:t>
            </a:r>
            <a:r>
              <a:rPr lang="en-US" dirty="0"/>
              <a:t>,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dirty="0"/>
              <a:t>depict the model could works beautifully on predicting cheaper laptop.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average the model is off by about 13,638.00</a:t>
            </a:r>
          </a:p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E25DF1C-AC41-72EF-9BC8-1DE6CAF5872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Our Pricing Engine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1E3F0D1-15B7-F991-1623-A554ADB82F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0DE3F79-0B9F-CE8B-2DCC-10AD4F4966CC}"/>
              </a:ext>
            </a:extLst>
          </p:cNvPr>
          <p:cNvSpPr/>
          <p:nvPr/>
        </p:nvSpPr>
        <p:spPr>
          <a:xfrm rot="19647782">
            <a:off x="1022849" y="3825527"/>
            <a:ext cx="3185652" cy="2251587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695C78-EA58-A9E6-ED07-6D08168E348F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4119716" y="4603923"/>
            <a:ext cx="2972472" cy="3473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95540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23871-46E0-B11B-7B2C-C5248CE8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B68E0E5-9528-A6A0-C965-C86FE58C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384" y="322874"/>
            <a:ext cx="10506416" cy="1128519"/>
          </a:xfrm>
        </p:spPr>
        <p:txBody>
          <a:bodyPr/>
          <a:lstStyle/>
          <a:p>
            <a:r>
              <a:rPr lang="en-US" dirty="0"/>
              <a:t>The models Performance</a:t>
            </a: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5AE16563-72EA-3120-ADC6-814636CDC96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t="3877" b="3877"/>
          <a:stretch>
            <a:fillRect/>
          </a:stretch>
        </p:blipFill>
        <p:spPr>
          <a:xfrm>
            <a:off x="279747" y="1809135"/>
            <a:ext cx="6471827" cy="4765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C58C902-A885-0A7B-6F7F-5752BEF02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92188" y="3347821"/>
            <a:ext cx="4375150" cy="16880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Although, Looking at outlier on the right-side pricier laptop are harder to predict. This is due to the lack of luxurious laptop data on the dataset.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679BF6E-F0DA-4443-8F3F-EAB620E631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The Luxury Blindspot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ADFEF25-8692-EB2D-0BA2-ADA8AB8E03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A6779D-B316-EECC-559B-6F78635335F9}"/>
              </a:ext>
            </a:extLst>
          </p:cNvPr>
          <p:cNvSpPr/>
          <p:nvPr/>
        </p:nvSpPr>
        <p:spPr>
          <a:xfrm rot="20795303">
            <a:off x="4777762" y="3353607"/>
            <a:ext cx="1897626" cy="880050"/>
          </a:xfrm>
          <a:prstGeom prst="ellipse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7A681D-02BC-D6F0-3202-5488B9B90158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6272981" y="4050890"/>
            <a:ext cx="819207" cy="140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02835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B7B0AB-7E6D-621B-43E7-5825A644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Value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7F915-9766-1FC8-98BD-D9AE3D5B2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can this model be used?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5EE6"/>
                </a:solidFill>
              </a:rPr>
              <a:t>Automatically spotting underpriced laptops for resale.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5EE6"/>
                </a:solidFill>
              </a:rPr>
              <a:t>helping manufacturers price new models competitively.</a:t>
            </a:r>
          </a:p>
        </p:txBody>
      </p:sp>
      <p:pic>
        <p:nvPicPr>
          <p:cNvPr id="14" name="Picture Placeholder 14" descr="Close-up of a pen writing on a chart">
            <a:extLst>
              <a:ext uri="{FF2B5EF4-FFF2-40B4-BE49-F238E27FC236}">
                <a16:creationId xmlns:a16="http://schemas.microsoft.com/office/drawing/2014/main" id="{F96F20C9-F169-573A-32C0-8FA15642A6D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6361472" y="1112838"/>
            <a:ext cx="4983144" cy="4975225"/>
          </a:xfrm>
        </p:spPr>
      </p:pic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F6A0489E-C8E2-CAE5-9FFC-28CC9E0860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31015" y="4684063"/>
            <a:ext cx="2121408" cy="212140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D396BF65-AA7F-3F0F-FE49-EA87C28282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23182" y="1509738"/>
            <a:ext cx="192024" cy="10332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4325A5-D39C-C1D3-2E04-F741DCBB2B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Business Value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6C7ECE-6B8F-A6C6-C92D-4C1BB62455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40125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6A12F8-DD2F-AE73-677F-D5310D6D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91AF693-3675-52A5-9E8E-C071048A1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Abdullah Ihsan Taslim</a:t>
            </a:r>
          </a:p>
          <a:p>
            <a:r>
              <a:rPr lang="en-US" dirty="0"/>
              <a:t>ihsantaslim@gmail.com</a:t>
            </a:r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https://github.com/IhsanTaslim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5086-0CC9-27F6-6E0B-D4F2AD6181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End.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8A5661-D5F1-FE42-FC42-CC2D27E7AA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8348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Custom 9">
      <a:dk1>
        <a:srgbClr val="36393B"/>
      </a:dk1>
      <a:lt1>
        <a:srgbClr val="FFFFFF"/>
      </a:lt1>
      <a:dk2>
        <a:srgbClr val="3AEFCC"/>
      </a:dk2>
      <a:lt2>
        <a:srgbClr val="E7E4E6"/>
      </a:lt2>
      <a:accent1>
        <a:srgbClr val="4A5EE6"/>
      </a:accent1>
      <a:accent2>
        <a:srgbClr val="62D382"/>
      </a:accent2>
      <a:accent3>
        <a:srgbClr val="FDED60"/>
      </a:accent3>
      <a:accent4>
        <a:srgbClr val="FD4C00"/>
      </a:accent4>
      <a:accent5>
        <a:srgbClr val="FE2701"/>
      </a:accent5>
      <a:accent6>
        <a:srgbClr val="CA54FB"/>
      </a:accent6>
      <a:hlink>
        <a:srgbClr val="4E62F0"/>
      </a:hlink>
      <a:folHlink>
        <a:srgbClr val="FC4C00"/>
      </a:folHlink>
    </a:clrScheme>
    <a:fontScheme name="Custom 9">
      <a:majorFont>
        <a:latin typeface="Arial Black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TM34357351</Template>
  <TotalTime>102</TotalTime>
  <Words>611</Words>
  <Application>Microsoft Office PowerPoint</Application>
  <PresentationFormat>Widescreen</PresentationFormat>
  <Paragraphs>132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Avenir Next LT Pro</vt:lpstr>
      <vt:lpstr>Calibri</vt:lpstr>
      <vt:lpstr>Gill Sans Ultra Bold</vt:lpstr>
      <vt:lpstr>Office Theme</vt:lpstr>
      <vt:lpstr>Predicting laptop Prices  “What Really Drives the Market?”</vt:lpstr>
      <vt:lpstr>AGENDA</vt:lpstr>
      <vt:lpstr>INTRO</vt:lpstr>
      <vt:lpstr>Intro</vt:lpstr>
      <vt:lpstr>The Market Landscape</vt:lpstr>
      <vt:lpstr>Microsoft Dominates the ecosystem with windows 10</vt:lpstr>
      <vt:lpstr>Meawhile Lenovo, Dell &amp; HP dominate the hardware</vt:lpstr>
      <vt:lpstr>Lower end device, notebook Prices around 50K saturating the market </vt:lpstr>
      <vt:lpstr>Thus, What is the features that dictate       the prices?</vt:lpstr>
      <vt:lpstr>RAM &amp; SSD Are the dictators of the price</vt:lpstr>
      <vt:lpstr>These features are What’s going to shape the model</vt:lpstr>
      <vt:lpstr>Upgrading Ram almost cost double than better screen or CPU</vt:lpstr>
      <vt:lpstr>The models Performance</vt:lpstr>
      <vt:lpstr>The models Performance</vt:lpstr>
      <vt:lpstr>Business Value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ihsantaslim@gmail.com</cp:lastModifiedBy>
  <cp:revision>3</cp:revision>
  <dcterms:created xsi:type="dcterms:W3CDTF">2026-08-02T17:19:34Z</dcterms:created>
  <dcterms:modified xsi:type="dcterms:W3CDTF">2026-08-02T19:03:19Z</dcterms:modified>
</cp:coreProperties>
</file>